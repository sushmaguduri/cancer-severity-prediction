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296" r:id="rId5"/>
    <p:sldId id="297" r:id="rId6"/>
    <p:sldId id="261" r:id="rId7"/>
    <p:sldId id="265" r:id="rId8"/>
    <p:sldId id="298" r:id="rId9"/>
    <p:sldId id="299" r:id="rId10"/>
    <p:sldId id="300" r:id="rId11"/>
    <p:sldId id="301" r:id="rId12"/>
    <p:sldId id="302" r:id="rId13"/>
    <p:sldId id="304" r:id="rId14"/>
    <p:sldId id="305" r:id="rId15"/>
    <p:sldId id="306" r:id="rId16"/>
    <p:sldId id="28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D51"/>
    <a:srgbClr val="2C567A"/>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5794" autoAdjust="0"/>
  </p:normalViewPr>
  <p:slideViewPr>
    <p:cSldViewPr snapToGrid="0" showGuides="1">
      <p:cViewPr>
        <p:scale>
          <a:sx n="60" d="100"/>
          <a:sy n="60" d="100"/>
        </p:scale>
        <p:origin x="1140" y="4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5/31/2025</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5/31/2025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sv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502920"/>
            <a:ext cx="10954512" cy="3246120"/>
          </a:xfrm>
        </p:spPr>
        <p:txBody>
          <a:bodyPr anchor="b"/>
          <a:lstStyle/>
          <a:p>
            <a:r>
              <a:rPr lang="en-US" sz="4500" dirty="0"/>
              <a:t>Cancer Severity Prediction &amp; Treatment Cost Analysis (2015–2024)</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2648" y="3758183"/>
            <a:ext cx="10954512" cy="1307592"/>
          </a:xfrm>
        </p:spPr>
        <p:txBody>
          <a:bodyPr vert="horz" lIns="91440" tIns="45720" rIns="91440" bIns="45720" rtlCol="0" anchor="t">
            <a:noAutofit/>
          </a:bodyPr>
          <a:lstStyle/>
          <a:p>
            <a:r>
              <a:rPr lang="en-US" sz="2200" dirty="0"/>
              <a:t>Presented by Sushma Guduri</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1078992" y="850392"/>
            <a:ext cx="3913632" cy="4800600"/>
          </a:xfrm>
          <a:noFill/>
        </p:spPr>
        <p:txBody>
          <a:bodyPr anchor="ct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358384" y="1950720"/>
            <a:ext cx="4050792" cy="2953512"/>
          </a:xfrm>
          <a:noFill/>
        </p:spPr>
        <p:txBody>
          <a:bodyPr>
            <a:noAutofit/>
          </a:bodyPr>
          <a:lstStyle/>
          <a:p>
            <a:pPr marL="457200" indent="-457200">
              <a:buFont typeface="+mj-lt"/>
              <a:buAutoNum type="arabicPeriod"/>
            </a:pPr>
            <a:r>
              <a:rPr lang="en-IN" dirty="0"/>
              <a:t>Introduction</a:t>
            </a:r>
          </a:p>
          <a:p>
            <a:pPr marL="457200" indent="-457200">
              <a:buFont typeface="+mj-lt"/>
              <a:buAutoNum type="arabicPeriod"/>
            </a:pPr>
            <a:r>
              <a:rPr lang="en-IN" dirty="0"/>
              <a:t>Problem Statement</a:t>
            </a:r>
          </a:p>
          <a:p>
            <a:pPr marL="457200" indent="-457200">
              <a:buFont typeface="+mj-lt"/>
              <a:buAutoNum type="arabicPeriod"/>
            </a:pPr>
            <a:r>
              <a:rPr lang="en-IN" dirty="0"/>
              <a:t>Objectives</a:t>
            </a:r>
          </a:p>
          <a:p>
            <a:pPr marL="457200" indent="-457200">
              <a:buFont typeface="+mj-lt"/>
              <a:buAutoNum type="arabicPeriod"/>
            </a:pPr>
            <a:r>
              <a:rPr lang="en-IN" dirty="0"/>
              <a:t>Data Exploration &amp; Preprocessing</a:t>
            </a:r>
          </a:p>
          <a:p>
            <a:pPr marL="457200" indent="-457200">
              <a:buFont typeface="+mj-lt"/>
              <a:buAutoNum type="arabicPeriod"/>
            </a:pPr>
            <a:r>
              <a:rPr lang="en-IN" dirty="0"/>
              <a:t>Feature Selection</a:t>
            </a:r>
          </a:p>
          <a:p>
            <a:pPr marL="457200" indent="-457200">
              <a:buFont typeface="+mj-lt"/>
              <a:buAutoNum type="arabicPeriod"/>
            </a:pPr>
            <a:r>
              <a:rPr lang="en-IN" dirty="0"/>
              <a:t>Model Development &amp; Evaluation</a:t>
            </a:r>
          </a:p>
          <a:p>
            <a:pPr marL="457200" indent="-457200">
              <a:buFont typeface="+mj-lt"/>
              <a:buAutoNum type="arabicPeriod"/>
            </a:pPr>
            <a:r>
              <a:rPr lang="en-IN" dirty="0"/>
              <a:t>Results</a:t>
            </a:r>
          </a:p>
          <a:p>
            <a:pPr marL="457200" indent="-457200">
              <a:buFont typeface="+mj-lt"/>
              <a:buAutoNum type="arabicPeriod"/>
            </a:pPr>
            <a:r>
              <a:rPr lang="en-IN" dirty="0"/>
              <a:t>Impact</a:t>
            </a:r>
          </a:p>
          <a:p>
            <a:pPr marL="457200" indent="-457200">
              <a:buFont typeface="+mj-lt"/>
              <a:buAutoNum type="arabicPeriod"/>
            </a:pPr>
            <a:r>
              <a:rPr lang="en-IN" dirty="0"/>
              <a:t>Tools &amp; Technologies</a:t>
            </a:r>
          </a:p>
          <a:p>
            <a:pPr marL="457200" indent="-457200">
              <a:buFont typeface="+mj-lt"/>
              <a:buAutoNum type="arabicPeriod"/>
            </a:pPr>
            <a:r>
              <a:rPr lang="en-IN" dirty="0"/>
              <a:t>Conclusion &amp; Future Work</a:t>
            </a:r>
            <a:endParaRPr lang="en-US" dirty="0"/>
          </a:p>
        </p:txBody>
      </p:sp>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301850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078992" y="365760"/>
            <a:ext cx="10277856" cy="1655064"/>
          </a:xfrm>
          <a:noFill/>
        </p:spPr>
        <p:txBody>
          <a:bodyPr anchor="b">
            <a:noAutofit/>
          </a:bodyPr>
          <a:lstStyle/>
          <a:p>
            <a:r>
              <a:rPr lang="en-US" dirty="0"/>
              <a:t>Introduction</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1507958" y="3723454"/>
            <a:ext cx="9848890" cy="2227446"/>
          </a:xfrm>
          <a:noFill/>
        </p:spPr>
        <p:txBody>
          <a:bodyPr>
            <a:noAutofit/>
          </a:bodyPr>
          <a:lstStyle/>
          <a:p>
            <a:pPr marL="342900" indent="-342900">
              <a:buFont typeface="Arial" panose="020B0604020202020204" pitchFamily="34" charset="0"/>
              <a:buChar char="•"/>
            </a:pPr>
            <a:r>
              <a:rPr lang="en-US" dirty="0"/>
              <a:t>Cancer is a major global health concern, and understanding its severity and treatment costs is critical for improving patient outcomes and managing healthcare resources.</a:t>
            </a:r>
          </a:p>
          <a:p>
            <a:pPr marL="342900" indent="-342900">
              <a:buFont typeface="Arial" panose="020B0604020202020204" pitchFamily="34" charset="0"/>
              <a:buChar char="•"/>
            </a:pPr>
            <a:r>
              <a:rPr lang="en-US" dirty="0"/>
              <a:t>Early detection and personalized treatment strategies significantly enhance survival rates and reduce medical expenses.</a:t>
            </a:r>
          </a:p>
          <a:p>
            <a:pPr marL="342900" indent="-342900">
              <a:buFont typeface="Arial" panose="020B0604020202020204" pitchFamily="34" charset="0"/>
              <a:buChar char="•"/>
            </a:pPr>
            <a:r>
              <a:rPr lang="en-US" dirty="0"/>
              <a:t>This project analyzes global cancer patient data from </a:t>
            </a:r>
            <a:r>
              <a:rPr lang="en-US" b="1" dirty="0"/>
              <a:t>2015 to 2024</a:t>
            </a:r>
            <a:r>
              <a:rPr lang="en-US" dirty="0"/>
              <a:t> to uncover the factors influencing cancer severity, survival, and treatment costs.</a:t>
            </a:r>
          </a:p>
          <a:p>
            <a:pPr marL="342900" indent="-342900">
              <a:buFont typeface="Arial" panose="020B0604020202020204" pitchFamily="34" charset="0"/>
              <a:buChar char="•"/>
            </a:pPr>
            <a:r>
              <a:rPr lang="en-US" dirty="0"/>
              <a:t>Machine learning models are applied to predict cancer severity scores and estimate treatment costs with high accuracy.</a:t>
            </a:r>
          </a:p>
          <a:p>
            <a:pPr marL="342900" indent="-342900">
              <a:buFont typeface="Arial" panose="020B0604020202020204" pitchFamily="34" charset="0"/>
              <a:buChar char="•"/>
            </a:pPr>
            <a:r>
              <a:rPr lang="en-US" dirty="0"/>
              <a:t>The goal is to provide </a:t>
            </a:r>
            <a:r>
              <a:rPr lang="en-US" b="1" dirty="0"/>
              <a:t>actionable insights</a:t>
            </a:r>
            <a:r>
              <a:rPr lang="en-US" dirty="0"/>
              <a:t> for healthcare providers and policymakers to support </a:t>
            </a:r>
            <a:r>
              <a:rPr lang="en-US" b="1" dirty="0"/>
              <a:t>data-driven decisions</a:t>
            </a:r>
            <a:r>
              <a:rPr lang="en-US" dirty="0"/>
              <a:t> and </a:t>
            </a:r>
            <a:r>
              <a:rPr lang="en-US" b="1" dirty="0"/>
              <a:t>optimize resource allocation</a:t>
            </a:r>
            <a:r>
              <a:rPr lang="en-US" dirty="0"/>
              <a:t>.</a:t>
            </a:r>
          </a:p>
          <a:p>
            <a:endParaRPr lang="en-US" dirty="0"/>
          </a:p>
          <a:p>
            <a:endParaRPr lang="en-US" dirty="0"/>
          </a:p>
          <a:p>
            <a:endParaRPr lang="en-US" dirty="0"/>
          </a:p>
          <a:p>
            <a:endParaRPr lang="en-US" dirty="0"/>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3</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078992" y="365760"/>
            <a:ext cx="10277856" cy="1655064"/>
          </a:xfrm>
          <a:noFill/>
        </p:spPr>
        <p:txBody>
          <a:bodyPr>
            <a:noAutofit/>
          </a:bodyPr>
          <a:lstStyle/>
          <a:p>
            <a:r>
              <a:rPr lang="en-IN" dirty="0"/>
              <a:t>2. Problem Statement</a:t>
            </a:r>
            <a:endParaRPr lang="en-US" dirty="0"/>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idx="1"/>
          </p:nvPr>
        </p:nvSpPr>
        <p:spPr>
          <a:xfrm>
            <a:off x="1844040" y="2276856"/>
            <a:ext cx="8058912" cy="3090672"/>
          </a:xfrm>
          <a:noFill/>
        </p:spPr>
        <p:txBody>
          <a:bodyPr vert="horz" lIns="91440" tIns="45720" rIns="91440" bIns="45720" rtlCol="0" anchor="t">
            <a:normAutofit/>
          </a:bodyPr>
          <a:lstStyle/>
          <a:p>
            <a:r>
              <a:rPr lang="en-US" dirty="0"/>
              <a:t>Cancer is a complex and life-threatening disease that presents a major global health challenge. Predicting its severity and estimating associated treatment costs are critical for timely intervention, improved patient outcomes, and effective healthcare resource management. However, due to the multifactorial nature of the disease — including genetic, environmental, and lifestyle factors — accurate prediction remains a challenge. This project aims to leverage global cancer data from 2015–2024 to identify key risk factors, predict cancer severity, and estimate treatment costs using machine learning techniques.</a:t>
            </a:r>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729609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998E6-E545-204F-0197-852AF17BD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EAF9B-DEEB-2187-5F03-64CA6783D8ED}"/>
              </a:ext>
            </a:extLst>
          </p:cNvPr>
          <p:cNvSpPr>
            <a:spLocks noGrp="1"/>
          </p:cNvSpPr>
          <p:nvPr>
            <p:ph type="title"/>
          </p:nvPr>
        </p:nvSpPr>
        <p:spPr>
          <a:xfrm>
            <a:off x="1078992" y="365760"/>
            <a:ext cx="10277856" cy="1655064"/>
          </a:xfrm>
          <a:noFill/>
        </p:spPr>
        <p:txBody>
          <a:bodyPr>
            <a:noAutofit/>
          </a:bodyPr>
          <a:lstStyle/>
          <a:p>
            <a:r>
              <a:rPr lang="en-IN" dirty="0"/>
              <a:t>3. Objectives</a:t>
            </a:r>
            <a:endParaRPr lang="en-US" dirty="0"/>
          </a:p>
        </p:txBody>
      </p:sp>
      <p:sp>
        <p:nvSpPr>
          <p:cNvPr id="8" name="Slide Number Placeholder 7">
            <a:extLst>
              <a:ext uri="{FF2B5EF4-FFF2-40B4-BE49-F238E27FC236}">
                <a16:creationId xmlns:a16="http://schemas.microsoft.com/office/drawing/2014/main" id="{DE4A6BA4-3D1B-6A9F-38F6-B0EEEA678B9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5</a:t>
            </a:fld>
            <a:endParaRPr lang="en-US" dirty="0"/>
          </a:p>
        </p:txBody>
      </p:sp>
      <p:sp>
        <p:nvSpPr>
          <p:cNvPr id="12" name="Rectangle 3">
            <a:extLst>
              <a:ext uri="{FF2B5EF4-FFF2-40B4-BE49-F238E27FC236}">
                <a16:creationId xmlns:a16="http://schemas.microsoft.com/office/drawing/2014/main" id="{FCB9A712-95A1-5693-B9BC-D9F267A78E4C}"/>
              </a:ext>
            </a:extLst>
          </p:cNvPr>
          <p:cNvSpPr>
            <a:spLocks noGrp="1" noChangeArrowheads="1"/>
          </p:cNvSpPr>
          <p:nvPr>
            <p:ph idx="1"/>
          </p:nvPr>
        </p:nvSpPr>
        <p:spPr bwMode="auto">
          <a:xfrm>
            <a:off x="1615440" y="2298699"/>
            <a:ext cx="828751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Analyze patient demographic, clinical, and cost data related to cancer.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Identify factors most significantly influencing cancer severity and patient survival.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Develop predictive models for cancer severity scores.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Forecast treatment costs to support healthcare budgeting.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Derive actionable insights to assist healthcare professionals and policymakers</a:t>
            </a:r>
            <a:r>
              <a:rPr kumimoji="0" lang="en-US" altLang="en-US" sz="2400" b="0" i="0" u="none" strike="noStrike" cap="none" normalizeH="0" baseline="0" dirty="0">
                <a:ln>
                  <a:noFill/>
                </a:ln>
                <a:solidFill>
                  <a:srgbClr val="0D1D51"/>
                </a:solidFill>
                <a:effectLst/>
                <a:latin typeface="Arial" panose="020B0604020202020204" pitchFamily="34" charset="0"/>
              </a:rPr>
              <a:t>.</a:t>
            </a:r>
          </a:p>
        </p:txBody>
      </p:sp>
    </p:spTree>
    <p:extLst>
      <p:ext uri="{BB962C8B-B14F-4D97-AF65-F5344CB8AC3E}">
        <p14:creationId xmlns:p14="http://schemas.microsoft.com/office/powerpoint/2010/main" val="90744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A6E90-4501-B9B7-1546-17851CCD7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6D31A3-0B95-488F-AAD3-A926EED1B8A5}"/>
              </a:ext>
            </a:extLst>
          </p:cNvPr>
          <p:cNvSpPr>
            <a:spLocks noGrp="1"/>
          </p:cNvSpPr>
          <p:nvPr>
            <p:ph type="title"/>
          </p:nvPr>
        </p:nvSpPr>
        <p:spPr>
          <a:xfrm>
            <a:off x="1078992" y="365760"/>
            <a:ext cx="10277856" cy="1655064"/>
          </a:xfrm>
          <a:noFill/>
        </p:spPr>
        <p:txBody>
          <a:bodyPr>
            <a:noAutofit/>
          </a:bodyPr>
          <a:lstStyle/>
          <a:p>
            <a:r>
              <a:rPr lang="en-IN" dirty="0"/>
              <a:t>4. Data Exploration &amp; Preprocessing</a:t>
            </a:r>
            <a:endParaRPr lang="en-US" dirty="0"/>
          </a:p>
        </p:txBody>
      </p:sp>
      <p:sp>
        <p:nvSpPr>
          <p:cNvPr id="8" name="Slide Number Placeholder 7">
            <a:extLst>
              <a:ext uri="{FF2B5EF4-FFF2-40B4-BE49-F238E27FC236}">
                <a16:creationId xmlns:a16="http://schemas.microsoft.com/office/drawing/2014/main" id="{765F7AD7-5F08-24FA-2ACE-DCE48DF706D5}"/>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6</a:t>
            </a:fld>
            <a:endParaRPr lang="en-US" dirty="0"/>
          </a:p>
        </p:txBody>
      </p:sp>
      <p:sp>
        <p:nvSpPr>
          <p:cNvPr id="4" name="Rectangle 2">
            <a:extLst>
              <a:ext uri="{FF2B5EF4-FFF2-40B4-BE49-F238E27FC236}">
                <a16:creationId xmlns:a16="http://schemas.microsoft.com/office/drawing/2014/main" id="{0BBE77DA-E350-12A1-FD93-1DCC577E8E36}"/>
              </a:ext>
            </a:extLst>
          </p:cNvPr>
          <p:cNvSpPr>
            <a:spLocks noGrp="1" noChangeArrowheads="1"/>
          </p:cNvSpPr>
          <p:nvPr>
            <p:ph idx="1"/>
          </p:nvPr>
        </p:nvSpPr>
        <p:spPr bwMode="auto">
          <a:xfrm>
            <a:off x="1616075" y="2159914"/>
            <a:ext cx="9740773"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Description of dataset and feature variables (e.g., age, gender, risk factors, treatment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Handling missing values, data encoding, and normalization.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Exploratory Data Analysis (EDA):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Gender and age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Country-wise and yearly incidence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Risk factor correlation with severity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Survival distribution by cancer stage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7280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9E369-096C-0000-3948-FE71C588B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FF792-EA7D-3749-B583-00259D9DCCD7}"/>
              </a:ext>
            </a:extLst>
          </p:cNvPr>
          <p:cNvSpPr>
            <a:spLocks noGrp="1"/>
          </p:cNvSpPr>
          <p:nvPr>
            <p:ph type="title"/>
          </p:nvPr>
        </p:nvSpPr>
        <p:spPr>
          <a:xfrm>
            <a:off x="1078992" y="365760"/>
            <a:ext cx="10277856" cy="1655064"/>
          </a:xfrm>
          <a:noFill/>
        </p:spPr>
        <p:txBody>
          <a:bodyPr>
            <a:noAutofit/>
          </a:bodyPr>
          <a:lstStyle/>
          <a:p>
            <a:r>
              <a:rPr lang="en-IN" dirty="0"/>
              <a:t>5. Feature Selection</a:t>
            </a:r>
            <a:endParaRPr lang="en-US" dirty="0"/>
          </a:p>
        </p:txBody>
      </p:sp>
      <p:sp>
        <p:nvSpPr>
          <p:cNvPr id="8" name="Slide Number Placeholder 7">
            <a:extLst>
              <a:ext uri="{FF2B5EF4-FFF2-40B4-BE49-F238E27FC236}">
                <a16:creationId xmlns:a16="http://schemas.microsoft.com/office/drawing/2014/main" id="{C1A4B620-0803-4BE9-F307-1890D146A74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sp>
        <p:nvSpPr>
          <p:cNvPr id="4" name="Rectangle 2">
            <a:extLst>
              <a:ext uri="{FF2B5EF4-FFF2-40B4-BE49-F238E27FC236}">
                <a16:creationId xmlns:a16="http://schemas.microsoft.com/office/drawing/2014/main" id="{91B1928C-3C0F-A33A-E435-DE4909D81D3F}"/>
              </a:ext>
            </a:extLst>
          </p:cNvPr>
          <p:cNvSpPr>
            <a:spLocks noGrp="1" noChangeArrowheads="1"/>
          </p:cNvSpPr>
          <p:nvPr>
            <p:ph idx="1"/>
          </p:nvPr>
        </p:nvSpPr>
        <p:spPr bwMode="auto">
          <a:xfrm>
            <a:off x="1616075" y="2319445"/>
            <a:ext cx="9740773" cy="30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Identified key influencing factors:</a:t>
            </a:r>
          </a:p>
          <a:p>
            <a:r>
              <a:rPr lang="en-US" sz="2400" dirty="0"/>
              <a:t>Smoking</a:t>
            </a:r>
          </a:p>
          <a:p>
            <a:r>
              <a:rPr lang="en-US" sz="2400" dirty="0"/>
              <a:t>Genetic Risk</a:t>
            </a:r>
          </a:p>
          <a:p>
            <a:r>
              <a:rPr lang="en-US" sz="2400" dirty="0"/>
              <a:t>Air Pollution</a:t>
            </a:r>
          </a:p>
          <a:p>
            <a:r>
              <a:rPr lang="en-US" sz="2400" dirty="0"/>
              <a:t>Alcohol Use</a:t>
            </a:r>
          </a:p>
          <a:p>
            <a:r>
              <a:rPr lang="en-US" sz="2400" dirty="0"/>
              <a:t>Obesity Level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4601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9F238-3378-E2EE-77C3-AA53FC391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D7F89-6AF9-3CD7-82D4-BE3E557F7A6B}"/>
              </a:ext>
            </a:extLst>
          </p:cNvPr>
          <p:cNvSpPr>
            <a:spLocks noGrp="1"/>
          </p:cNvSpPr>
          <p:nvPr>
            <p:ph type="title"/>
          </p:nvPr>
        </p:nvSpPr>
        <p:spPr>
          <a:xfrm>
            <a:off x="1078992" y="365760"/>
            <a:ext cx="10277856" cy="1655064"/>
          </a:xfrm>
          <a:noFill/>
        </p:spPr>
        <p:txBody>
          <a:bodyPr>
            <a:noAutofit/>
          </a:bodyPr>
          <a:lstStyle/>
          <a:p>
            <a:r>
              <a:rPr lang="en-IN" dirty="0"/>
              <a:t>6. Model Development &amp; Evaluation</a:t>
            </a:r>
            <a:endParaRPr lang="en-US" dirty="0"/>
          </a:p>
        </p:txBody>
      </p:sp>
      <p:sp>
        <p:nvSpPr>
          <p:cNvPr id="8" name="Slide Number Placeholder 7">
            <a:extLst>
              <a:ext uri="{FF2B5EF4-FFF2-40B4-BE49-F238E27FC236}">
                <a16:creationId xmlns:a16="http://schemas.microsoft.com/office/drawing/2014/main" id="{5DC65344-AA86-4FC1-5E92-36F41A1CFE3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8</a:t>
            </a:fld>
            <a:endParaRPr lang="en-US" dirty="0"/>
          </a:p>
        </p:txBody>
      </p:sp>
      <p:sp>
        <p:nvSpPr>
          <p:cNvPr id="4" name="Rectangle 2">
            <a:extLst>
              <a:ext uri="{FF2B5EF4-FFF2-40B4-BE49-F238E27FC236}">
                <a16:creationId xmlns:a16="http://schemas.microsoft.com/office/drawing/2014/main" id="{C205B773-CE46-FD57-1DA2-A067960A0C76}"/>
              </a:ext>
            </a:extLst>
          </p:cNvPr>
          <p:cNvSpPr>
            <a:spLocks noGrp="1" noChangeArrowheads="1"/>
          </p:cNvSpPr>
          <p:nvPr>
            <p:ph idx="1"/>
          </p:nvPr>
        </p:nvSpPr>
        <p:spPr bwMode="auto">
          <a:xfrm>
            <a:off x="1616075" y="1975248"/>
            <a:ext cx="974077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pPr>
            <a:r>
              <a:rPr lang="en-US" altLang="en-US" sz="2400" dirty="0">
                <a:solidFill>
                  <a:srgbClr val="0D1D51"/>
                </a:solidFill>
                <a:latin typeface="Arial" panose="020B0604020202020204" pitchFamily="34" charset="0"/>
              </a:rPr>
              <a:t>Models Used:</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400" dirty="0">
                <a:solidFill>
                  <a:srgbClr val="0D1D51"/>
                </a:solidFill>
                <a:latin typeface="Arial" panose="020B0604020202020204" pitchFamily="34" charset="0"/>
              </a:rPr>
              <a:t>Linear Regression</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400" dirty="0">
                <a:solidFill>
                  <a:srgbClr val="0D1D51"/>
                </a:solidFill>
                <a:latin typeface="Arial" panose="020B0604020202020204" pitchFamily="34" charset="0"/>
              </a:rPr>
              <a:t>Ridge Regression</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400" dirty="0">
                <a:solidFill>
                  <a:srgbClr val="0D1D51"/>
                </a:solidFill>
                <a:latin typeface="Arial" panose="020B0604020202020204" pitchFamily="34" charset="0"/>
              </a:rPr>
              <a:t>Random Forest</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400" dirty="0" err="1">
                <a:solidFill>
                  <a:srgbClr val="0D1D51"/>
                </a:solidFill>
                <a:latin typeface="Arial" panose="020B0604020202020204" pitchFamily="34" charset="0"/>
              </a:rPr>
              <a:t>XGBoost</a:t>
            </a:r>
            <a:endParaRPr lang="en-US" altLang="en-US" sz="2400" dirty="0">
              <a:solidFill>
                <a:srgbClr val="0D1D51"/>
              </a:solidFill>
              <a:latin typeface="Arial" panose="020B0604020202020204" pitchFamily="34" charset="0"/>
            </a:endParaRPr>
          </a:p>
          <a:p>
            <a:pPr lvl="0" eaLnBrk="0" fontAlgn="base" hangingPunct="0">
              <a:lnSpc>
                <a:spcPct val="100000"/>
              </a:lnSpc>
              <a:spcBef>
                <a:spcPct val="0"/>
              </a:spcBef>
              <a:spcAft>
                <a:spcPct val="0"/>
              </a:spcAft>
            </a:pPr>
            <a:r>
              <a:rPr lang="en-US" altLang="en-US" sz="2400" dirty="0">
                <a:solidFill>
                  <a:srgbClr val="0D1D51"/>
                </a:solidFill>
                <a:latin typeface="Arial" panose="020B0604020202020204" pitchFamily="34" charset="0"/>
              </a:rPr>
              <a:t>Evaluation Metrics:</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400" dirty="0">
                <a:solidFill>
                  <a:srgbClr val="0D1D51"/>
                </a:solidFill>
                <a:latin typeface="Arial" panose="020B0604020202020204" pitchFamily="34" charset="0"/>
              </a:rPr>
              <a:t>R-squared (R²)</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400" dirty="0">
                <a:solidFill>
                  <a:srgbClr val="0D1D51"/>
                </a:solidFill>
                <a:latin typeface="Arial" panose="020B0604020202020204" pitchFamily="34" charset="0"/>
              </a:rPr>
              <a:t>Mean Squared Error (MSE)</a:t>
            </a:r>
          </a:p>
          <a:p>
            <a:pPr marL="342900" lvl="0" indent="-342900" eaLnBrk="0" fontAlgn="base" hangingPunct="0">
              <a:lnSpc>
                <a:spcPct val="100000"/>
              </a:lnSpc>
              <a:spcBef>
                <a:spcPct val="0"/>
              </a:spcBef>
              <a:spcAft>
                <a:spcPct val="0"/>
              </a:spcAft>
              <a:buFont typeface="Arial" panose="020B0604020202020204" pitchFamily="34" charset="0"/>
              <a:buChar char="•"/>
            </a:pPr>
            <a:r>
              <a:rPr lang="en-US" altLang="en-US" sz="2400" dirty="0">
                <a:solidFill>
                  <a:srgbClr val="0D1D51"/>
                </a:solidFill>
                <a:latin typeface="Arial" panose="020B0604020202020204" pitchFamily="34" charset="0"/>
              </a:rPr>
              <a:t>Regularization applied to combat overfitting in linear 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13799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5C60F-C425-4A4C-C893-AFEECA057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BA2FB-A04D-4EF7-014E-283E7AE11AD4}"/>
              </a:ext>
            </a:extLst>
          </p:cNvPr>
          <p:cNvSpPr>
            <a:spLocks noGrp="1"/>
          </p:cNvSpPr>
          <p:nvPr>
            <p:ph type="title"/>
          </p:nvPr>
        </p:nvSpPr>
        <p:spPr>
          <a:xfrm>
            <a:off x="1078992" y="365760"/>
            <a:ext cx="10277856" cy="1655064"/>
          </a:xfrm>
          <a:noFill/>
        </p:spPr>
        <p:txBody>
          <a:bodyPr>
            <a:noAutofit/>
          </a:bodyPr>
          <a:lstStyle/>
          <a:p>
            <a:r>
              <a:rPr lang="en-IN" dirty="0"/>
              <a:t>7. Results</a:t>
            </a:r>
            <a:endParaRPr lang="en-US" dirty="0"/>
          </a:p>
        </p:txBody>
      </p:sp>
      <p:sp>
        <p:nvSpPr>
          <p:cNvPr id="8" name="Slide Number Placeholder 7">
            <a:extLst>
              <a:ext uri="{FF2B5EF4-FFF2-40B4-BE49-F238E27FC236}">
                <a16:creationId xmlns:a16="http://schemas.microsoft.com/office/drawing/2014/main" id="{1DD48FE3-1B12-8E20-E48E-621E75EDAFF9}"/>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sp>
        <p:nvSpPr>
          <p:cNvPr id="5" name="Rectangle 2">
            <a:extLst>
              <a:ext uri="{FF2B5EF4-FFF2-40B4-BE49-F238E27FC236}">
                <a16:creationId xmlns:a16="http://schemas.microsoft.com/office/drawing/2014/main" id="{BA51CC43-FEB6-CFBD-3AF3-F85F3BB2EAB3}"/>
              </a:ext>
            </a:extLst>
          </p:cNvPr>
          <p:cNvSpPr>
            <a:spLocks noGrp="1" noChangeArrowheads="1"/>
          </p:cNvSpPr>
          <p:nvPr>
            <p:ph idx="1"/>
          </p:nvPr>
        </p:nvSpPr>
        <p:spPr bwMode="auto">
          <a:xfrm>
            <a:off x="1616075" y="2159913"/>
            <a:ext cx="7612982"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0D1D51"/>
                </a:solidFill>
                <a:effectLst/>
                <a:latin typeface="Arial" panose="020B0604020202020204" pitchFamily="34" charset="0"/>
              </a:rPr>
              <a:t>Best Model:</a:t>
            </a:r>
            <a:r>
              <a:rPr kumimoji="0" lang="en-US" altLang="en-US" sz="2400" b="0" i="0" u="none" strike="noStrike" cap="none" normalizeH="0" baseline="0" dirty="0">
                <a:ln>
                  <a:noFill/>
                </a:ln>
                <a:solidFill>
                  <a:srgbClr val="0D1D51"/>
                </a:solidFill>
                <a:effectLst/>
                <a:latin typeface="Arial" panose="020B0604020202020204" pitchFamily="34" charset="0"/>
              </a:rPr>
              <a:t> Ridge Regression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R² Score: 0.7923</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MSE: 0.2896</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25% improvement in severity prediction accuracy</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0D1D51"/>
                </a:solidFill>
                <a:effectLst/>
                <a:latin typeface="Arial" panose="020B0604020202020204" pitchFamily="34" charset="0"/>
              </a:rPr>
              <a:t>Treatment Cost Forecasting:</a:t>
            </a:r>
            <a:endParaRPr kumimoji="0" lang="en-US" altLang="en-US" sz="2400" b="0" i="0" u="none" strike="noStrike" cap="none" normalizeH="0" baseline="0" dirty="0">
              <a:ln>
                <a:noFill/>
              </a:ln>
              <a:solidFill>
                <a:srgbClr val="0D1D5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20% increase in cost estimation precision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0D1D51"/>
                </a:solidFill>
                <a:effectLst/>
                <a:latin typeface="Arial" panose="020B0604020202020204" pitchFamily="34" charset="0"/>
              </a:rPr>
              <a:t>Survival Insights:</a:t>
            </a:r>
            <a:endParaRPr kumimoji="0" lang="en-US" altLang="en-US" sz="2400" b="0" i="0" u="none" strike="noStrike" cap="none" normalizeH="0" baseline="0" dirty="0">
              <a:ln>
                <a:noFill/>
              </a:ln>
              <a:solidFill>
                <a:srgbClr val="0D1D5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D1D51"/>
                </a:solidFill>
                <a:effectLst/>
                <a:latin typeface="Arial" panose="020B0604020202020204" pitchFamily="34" charset="0"/>
              </a:rPr>
              <a:t>30% higher survival rate in early-stage cancer cases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1276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16BBE-C80B-C35B-2F64-9138A9E03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7B672-66CE-5EC2-8123-D0CD027DC158}"/>
              </a:ext>
            </a:extLst>
          </p:cNvPr>
          <p:cNvSpPr>
            <a:spLocks noGrp="1"/>
          </p:cNvSpPr>
          <p:nvPr>
            <p:ph type="title"/>
          </p:nvPr>
        </p:nvSpPr>
        <p:spPr>
          <a:xfrm>
            <a:off x="1078992" y="365760"/>
            <a:ext cx="10277856" cy="1655064"/>
          </a:xfrm>
          <a:noFill/>
        </p:spPr>
        <p:txBody>
          <a:bodyPr>
            <a:noAutofit/>
          </a:bodyPr>
          <a:lstStyle/>
          <a:p>
            <a:r>
              <a:rPr lang="en-IN" dirty="0"/>
              <a:t>8. Impact</a:t>
            </a:r>
            <a:endParaRPr lang="en-US" dirty="0"/>
          </a:p>
        </p:txBody>
      </p:sp>
      <p:sp>
        <p:nvSpPr>
          <p:cNvPr id="8" name="Slide Number Placeholder 7">
            <a:extLst>
              <a:ext uri="{FF2B5EF4-FFF2-40B4-BE49-F238E27FC236}">
                <a16:creationId xmlns:a16="http://schemas.microsoft.com/office/drawing/2014/main" id="{7724EE81-7E17-D228-F690-A5F3B904B10E}"/>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10</a:t>
            </a:fld>
            <a:endParaRPr lang="en-US" dirty="0"/>
          </a:p>
        </p:txBody>
      </p:sp>
      <p:sp>
        <p:nvSpPr>
          <p:cNvPr id="6" name="Rectangle 2">
            <a:extLst>
              <a:ext uri="{FF2B5EF4-FFF2-40B4-BE49-F238E27FC236}">
                <a16:creationId xmlns:a16="http://schemas.microsoft.com/office/drawing/2014/main" id="{33CD3361-000D-6976-4D84-AA88A76F9A3C}"/>
              </a:ext>
            </a:extLst>
          </p:cNvPr>
          <p:cNvSpPr>
            <a:spLocks noGrp="1" noChangeArrowheads="1"/>
          </p:cNvSpPr>
          <p:nvPr>
            <p:ph idx="1"/>
          </p:nvPr>
        </p:nvSpPr>
        <p:spPr bwMode="auto">
          <a:xfrm>
            <a:off x="1535864" y="2336955"/>
            <a:ext cx="86308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Enhanced predictive capability supports early diagnosis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Enables smarter treatment budgeting and resource allocation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Informs public health policies with data-driven insights</a:t>
            </a:r>
          </a:p>
        </p:txBody>
      </p:sp>
    </p:spTree>
    <p:extLst>
      <p:ext uri="{BB962C8B-B14F-4D97-AF65-F5344CB8AC3E}">
        <p14:creationId xmlns:p14="http://schemas.microsoft.com/office/powerpoint/2010/main" val="1808628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A8C0C-7E7B-E478-CA27-9199D84A0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FF5C0C-C291-EE65-AFDF-0E82CD08230C}"/>
              </a:ext>
            </a:extLst>
          </p:cNvPr>
          <p:cNvSpPr>
            <a:spLocks noGrp="1"/>
          </p:cNvSpPr>
          <p:nvPr>
            <p:ph type="title"/>
          </p:nvPr>
        </p:nvSpPr>
        <p:spPr>
          <a:xfrm>
            <a:off x="1078992" y="365760"/>
            <a:ext cx="10277856" cy="1655064"/>
          </a:xfrm>
          <a:noFill/>
        </p:spPr>
        <p:txBody>
          <a:bodyPr>
            <a:noAutofit/>
          </a:bodyPr>
          <a:lstStyle/>
          <a:p>
            <a:r>
              <a:rPr lang="en-IN" dirty="0"/>
              <a:t>9. Tools &amp; Technologies</a:t>
            </a:r>
            <a:endParaRPr lang="en-US" dirty="0"/>
          </a:p>
        </p:txBody>
      </p:sp>
      <p:sp>
        <p:nvSpPr>
          <p:cNvPr id="8" name="Slide Number Placeholder 7">
            <a:extLst>
              <a:ext uri="{FF2B5EF4-FFF2-40B4-BE49-F238E27FC236}">
                <a16:creationId xmlns:a16="http://schemas.microsoft.com/office/drawing/2014/main" id="{4AEE3E23-433D-1C07-405A-968DE5F73E7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11</a:t>
            </a:fld>
            <a:endParaRPr lang="en-US" dirty="0"/>
          </a:p>
        </p:txBody>
      </p:sp>
      <p:sp>
        <p:nvSpPr>
          <p:cNvPr id="4" name="Rectangle 2">
            <a:extLst>
              <a:ext uri="{FF2B5EF4-FFF2-40B4-BE49-F238E27FC236}">
                <a16:creationId xmlns:a16="http://schemas.microsoft.com/office/drawing/2014/main" id="{921A655A-ED8F-3552-BA99-14D90B7FF84F}"/>
              </a:ext>
            </a:extLst>
          </p:cNvPr>
          <p:cNvSpPr>
            <a:spLocks noGrp="1" noChangeArrowheads="1"/>
          </p:cNvSpPr>
          <p:nvPr>
            <p:ph idx="1"/>
          </p:nvPr>
        </p:nvSpPr>
        <p:spPr bwMode="auto">
          <a:xfrm>
            <a:off x="1535113" y="2337505"/>
            <a:ext cx="839088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Python: Pandas, Scikit-learn, Seaborn, Matplotlib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Machine Learning: Regression models, Ensemble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D1D51"/>
                </a:solidFill>
                <a:effectLst/>
              </a:rPr>
              <a:t>Statistical &amp; Visual Analysis</a:t>
            </a:r>
          </a:p>
        </p:txBody>
      </p:sp>
    </p:spTree>
    <p:extLst>
      <p:ext uri="{BB962C8B-B14F-4D97-AF65-F5344CB8AC3E}">
        <p14:creationId xmlns:p14="http://schemas.microsoft.com/office/powerpoint/2010/main" val="1656434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972F7-ACE4-1D33-AAA5-C8E1DAB89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19439-666D-4027-A6CC-647B70149AFD}"/>
              </a:ext>
            </a:extLst>
          </p:cNvPr>
          <p:cNvSpPr>
            <a:spLocks noGrp="1"/>
          </p:cNvSpPr>
          <p:nvPr>
            <p:ph type="title"/>
          </p:nvPr>
        </p:nvSpPr>
        <p:spPr>
          <a:xfrm>
            <a:off x="1078992" y="365760"/>
            <a:ext cx="10277856" cy="1655064"/>
          </a:xfrm>
          <a:noFill/>
        </p:spPr>
        <p:txBody>
          <a:bodyPr>
            <a:noAutofit/>
          </a:bodyPr>
          <a:lstStyle/>
          <a:p>
            <a:r>
              <a:rPr lang="en-IN" dirty="0"/>
              <a:t>10. Conclusion</a:t>
            </a:r>
            <a:endParaRPr lang="en-US" dirty="0"/>
          </a:p>
        </p:txBody>
      </p:sp>
      <p:sp>
        <p:nvSpPr>
          <p:cNvPr id="8" name="Slide Number Placeholder 7">
            <a:extLst>
              <a:ext uri="{FF2B5EF4-FFF2-40B4-BE49-F238E27FC236}">
                <a16:creationId xmlns:a16="http://schemas.microsoft.com/office/drawing/2014/main" id="{55A07770-E61B-2E45-3444-2DC685689D8E}"/>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12</a:t>
            </a:fld>
            <a:endParaRPr lang="en-US" dirty="0"/>
          </a:p>
        </p:txBody>
      </p:sp>
      <p:sp>
        <p:nvSpPr>
          <p:cNvPr id="4" name="Rectangle 2">
            <a:extLst>
              <a:ext uri="{FF2B5EF4-FFF2-40B4-BE49-F238E27FC236}">
                <a16:creationId xmlns:a16="http://schemas.microsoft.com/office/drawing/2014/main" id="{683F3EC9-AB5F-46B3-8AB4-4FDCE8570225}"/>
              </a:ext>
            </a:extLst>
          </p:cNvPr>
          <p:cNvSpPr>
            <a:spLocks noGrp="1" noChangeArrowheads="1"/>
          </p:cNvSpPr>
          <p:nvPr>
            <p:ph idx="1"/>
          </p:nvPr>
        </p:nvSpPr>
        <p:spPr bwMode="auto">
          <a:xfrm>
            <a:off x="925777" y="2128743"/>
            <a:ext cx="10431071"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00000"/>
              </a:lnSpc>
              <a:spcBef>
                <a:spcPct val="0"/>
              </a:spcBef>
              <a:spcAft>
                <a:spcPct val="0"/>
              </a:spcAft>
              <a:buFont typeface="Arial" panose="020B0604020202020204" pitchFamily="34" charset="0"/>
              <a:buChar char="•"/>
            </a:pPr>
            <a:r>
              <a:rPr lang="en-US" dirty="0"/>
              <a:t>Successfully applied data-driven techniques to analyze global cancer patient data from 2015 to 2024.</a:t>
            </a:r>
          </a:p>
          <a:p>
            <a:pPr marL="342900" lvl="0" indent="-342900" eaLnBrk="0" fontAlgn="base" hangingPunct="0">
              <a:lnSpc>
                <a:spcPct val="100000"/>
              </a:lnSpc>
              <a:spcBef>
                <a:spcPct val="0"/>
              </a:spcBef>
              <a:spcAft>
                <a:spcPct val="0"/>
              </a:spcAft>
              <a:buFont typeface="Arial" panose="020B0604020202020204" pitchFamily="34" charset="0"/>
              <a:buChar char="•"/>
            </a:pPr>
            <a:r>
              <a:rPr lang="en-US" dirty="0"/>
              <a:t>Identified five key risk factors influencing cancer severity: </a:t>
            </a:r>
            <a:r>
              <a:rPr lang="en-US" b="1" dirty="0"/>
              <a:t>Smoking, Genetic Risk, Air Pollution, Alcohol Use, and Obesity</a:t>
            </a:r>
            <a:r>
              <a:rPr lang="en-US" dirty="0"/>
              <a:t>.</a:t>
            </a:r>
          </a:p>
          <a:p>
            <a:pPr marL="342900" lvl="0" indent="-342900" eaLnBrk="0" fontAlgn="base" hangingPunct="0">
              <a:lnSpc>
                <a:spcPct val="100000"/>
              </a:lnSpc>
              <a:spcBef>
                <a:spcPct val="0"/>
              </a:spcBef>
              <a:spcAft>
                <a:spcPct val="0"/>
              </a:spcAft>
              <a:buFont typeface="Arial" panose="020B0604020202020204" pitchFamily="34" charset="0"/>
              <a:buChar char="•"/>
            </a:pPr>
            <a:r>
              <a:rPr lang="en-US" dirty="0"/>
              <a:t>Ridge Regression model outperformed others with an </a:t>
            </a:r>
            <a:r>
              <a:rPr lang="en-US" b="1" dirty="0"/>
              <a:t>R² score of 0.7923</a:t>
            </a:r>
            <a:r>
              <a:rPr lang="en-US" dirty="0"/>
              <a:t> and </a:t>
            </a:r>
            <a:r>
              <a:rPr lang="en-US" b="1" dirty="0"/>
              <a:t>MSE of 0.2896</a:t>
            </a:r>
            <a:r>
              <a:rPr lang="en-US" dirty="0"/>
              <a:t>, enabling reliable severity prediction.</a:t>
            </a:r>
          </a:p>
          <a:p>
            <a:pPr marL="342900" lvl="0" indent="-342900" eaLnBrk="0" fontAlgn="base" hangingPunct="0">
              <a:lnSpc>
                <a:spcPct val="100000"/>
              </a:lnSpc>
              <a:spcBef>
                <a:spcPct val="0"/>
              </a:spcBef>
              <a:spcAft>
                <a:spcPct val="0"/>
              </a:spcAft>
              <a:buFont typeface="Arial" panose="020B0604020202020204" pitchFamily="34" charset="0"/>
              <a:buChar char="•"/>
            </a:pPr>
            <a:r>
              <a:rPr lang="en-US" dirty="0"/>
              <a:t>Achieved </a:t>
            </a:r>
            <a:r>
              <a:rPr lang="en-US" b="1" dirty="0"/>
              <a:t>25% improvement</a:t>
            </a:r>
            <a:r>
              <a:rPr lang="en-US" dirty="0"/>
              <a:t> in cancer severity forecasting accuracy compared to baseline models.</a:t>
            </a:r>
          </a:p>
          <a:p>
            <a:pPr marL="342900" lvl="0" indent="-342900" eaLnBrk="0" fontAlgn="base" hangingPunct="0">
              <a:lnSpc>
                <a:spcPct val="100000"/>
              </a:lnSpc>
              <a:spcBef>
                <a:spcPct val="0"/>
              </a:spcBef>
              <a:spcAft>
                <a:spcPct val="0"/>
              </a:spcAft>
              <a:buFont typeface="Arial" panose="020B0604020202020204" pitchFamily="34" charset="0"/>
              <a:buChar char="•"/>
            </a:pPr>
            <a:r>
              <a:rPr lang="en-US" dirty="0"/>
              <a:t>Treatment cost prediction models improved estimation precision by </a:t>
            </a:r>
            <a:r>
              <a:rPr lang="en-US" b="1" dirty="0"/>
              <a:t>20%</a:t>
            </a:r>
            <a:r>
              <a:rPr lang="en-US" dirty="0"/>
              <a:t>, supporting better healthcare budgeting.</a:t>
            </a:r>
          </a:p>
          <a:p>
            <a:pPr marL="342900" lvl="0" indent="-342900" eaLnBrk="0" fontAlgn="base" hangingPunct="0">
              <a:lnSpc>
                <a:spcPct val="100000"/>
              </a:lnSpc>
              <a:spcBef>
                <a:spcPct val="0"/>
              </a:spcBef>
              <a:spcAft>
                <a:spcPct val="0"/>
              </a:spcAft>
              <a:buFont typeface="Arial" panose="020B0604020202020204" pitchFamily="34" charset="0"/>
              <a:buChar char="•"/>
            </a:pPr>
            <a:r>
              <a:rPr lang="en-US" b="1" dirty="0"/>
              <a:t>Survival analysis revealed a 30% higher survival rate</a:t>
            </a:r>
            <a:r>
              <a:rPr lang="en-US" dirty="0"/>
              <a:t> in early-stage cancer patients, highlighting the value of early detection.</a:t>
            </a:r>
          </a:p>
          <a:p>
            <a:pPr marL="342900" lvl="0" indent="-342900" eaLnBrk="0" fontAlgn="base" hangingPunct="0">
              <a:lnSpc>
                <a:spcPct val="100000"/>
              </a:lnSpc>
              <a:spcBef>
                <a:spcPct val="0"/>
              </a:spcBef>
              <a:spcAft>
                <a:spcPct val="0"/>
              </a:spcAft>
              <a:buFont typeface="Arial" panose="020B0604020202020204" pitchFamily="34" charset="0"/>
              <a:buChar char="•"/>
            </a:pPr>
            <a:r>
              <a:rPr lang="en-US" dirty="0"/>
              <a:t>Delivered </a:t>
            </a:r>
            <a:r>
              <a:rPr lang="en-US" b="1" dirty="0"/>
              <a:t>actionable insights</a:t>
            </a:r>
            <a:r>
              <a:rPr lang="en-US" dirty="0"/>
              <a:t> to assist healthcare professionals and policymakers in improving patient care and optimizing resource allocation.</a:t>
            </a:r>
          </a:p>
          <a:p>
            <a:pPr lvl="0" eaLnBrk="0" fontAlgn="base" hangingPunct="0">
              <a:lnSpc>
                <a:spcPct val="100000"/>
              </a:lnSpc>
              <a:spcBef>
                <a:spcPct val="0"/>
              </a:spcBef>
              <a:spcAft>
                <a:spcPct val="0"/>
              </a:spcAft>
            </a:pPr>
            <a:endParaRPr lang="en-US" dirty="0"/>
          </a:p>
          <a:p>
            <a:pPr lvl="0" eaLnBrk="0" fontAlgn="base" hangingPunct="0">
              <a:lnSpc>
                <a:spcPct val="100000"/>
              </a:lnSpc>
              <a:spcBef>
                <a:spcPct val="0"/>
              </a:spcBef>
              <a:spcAft>
                <a:spcPct val="0"/>
              </a:spcAft>
            </a:pPr>
            <a:endParaRPr lang="en-US" sz="2200" dirty="0"/>
          </a:p>
          <a:p>
            <a:pPr lvl="0" eaLnBrk="0" fontAlgn="base" hangingPunct="0">
              <a:lnSpc>
                <a:spcPct val="100000"/>
              </a:lnSpc>
              <a:spcBef>
                <a:spcPct val="0"/>
              </a:spcBef>
              <a:spcAft>
                <a:spcPct val="0"/>
              </a:spcAft>
            </a:pPr>
            <a:endParaRPr kumimoji="0" lang="en-US" altLang="en-US" sz="2400" b="0" i="0" u="none" strike="noStrike" cap="none" normalizeH="0" baseline="0" dirty="0">
              <a:ln>
                <a:noFill/>
              </a:ln>
              <a:solidFill>
                <a:srgbClr val="0D1D51"/>
              </a:solidFill>
              <a:effectLst/>
            </a:endParaRPr>
          </a:p>
        </p:txBody>
      </p:sp>
    </p:spTree>
    <p:extLst>
      <p:ext uri="{BB962C8B-B14F-4D97-AF65-F5344CB8AC3E}">
        <p14:creationId xmlns:p14="http://schemas.microsoft.com/office/powerpoint/2010/main" val="2695167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1133856" y="56450"/>
            <a:ext cx="9912096" cy="2743200"/>
          </a:xfrm>
          <a:noFill/>
        </p:spPr>
        <p:txBody>
          <a:bodyPr anchor="b">
            <a:noAutofit/>
          </a:bodyPr>
          <a:lstStyle/>
          <a:p>
            <a:r>
              <a:rPr lang="en-US" dirty="0"/>
              <a:t>Thank you</a:t>
            </a:r>
          </a:p>
        </p:txBody>
      </p:sp>
      <p:sp>
        <p:nvSpPr>
          <p:cNvPr id="6" name="Content Placeholder 5">
            <a:extLst>
              <a:ext uri="{FF2B5EF4-FFF2-40B4-BE49-F238E27FC236}">
                <a16:creationId xmlns:a16="http://schemas.microsoft.com/office/drawing/2014/main" id="{54D0A6B8-78EB-52CA-3D46-A46FC880D386}"/>
              </a:ext>
            </a:extLst>
          </p:cNvPr>
          <p:cNvSpPr>
            <a:spLocks noGrp="1"/>
          </p:cNvSpPr>
          <p:nvPr>
            <p:ph type="subTitle" idx="1"/>
          </p:nvPr>
        </p:nvSpPr>
        <p:spPr>
          <a:xfrm>
            <a:off x="3575303" y="3110546"/>
            <a:ext cx="4814717" cy="2743200"/>
          </a:xfrm>
          <a:noFill/>
        </p:spPr>
        <p:txBody>
          <a:bodyPr vert="horz" lIns="91440" tIns="45720" rIns="91440" bIns="45720" rtlCol="0" anchor="t" anchorCtr="0">
            <a:normAutofit/>
          </a:bodyPr>
          <a:lstStyle/>
          <a:p>
            <a:r>
              <a:rPr lang="en-US" noProof="0" dirty="0"/>
              <a:t>Sushma Guduri</a:t>
            </a:r>
          </a:p>
          <a:p>
            <a:r>
              <a:rPr lang="en-US" noProof="0" dirty="0"/>
              <a:t>sushmaguduri05@gmail.com</a:t>
            </a:r>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3.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36</TotalTime>
  <Words>657</Words>
  <Application>Microsoft Office PowerPoint</Application>
  <PresentationFormat>Widescreen</PresentationFormat>
  <Paragraphs>95</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Custom</vt:lpstr>
      <vt:lpstr>Cancer Severity Prediction &amp; Treatment Cost Analysis (2015–2024)</vt:lpstr>
      <vt:lpstr>Agenda</vt:lpstr>
      <vt:lpstr>Introduction</vt:lpstr>
      <vt:lpstr>2. Problem Statement</vt:lpstr>
      <vt:lpstr>3. Objectives</vt:lpstr>
      <vt:lpstr>4. Data Exploration &amp; Preprocessing</vt:lpstr>
      <vt:lpstr>5. Feature Selection</vt:lpstr>
      <vt:lpstr>6. Model Development &amp; Evaluation</vt:lpstr>
      <vt:lpstr>7. Results</vt:lpstr>
      <vt:lpstr>8. Impact</vt:lpstr>
      <vt:lpstr>9. Tools &amp; Technologies</vt:lpstr>
      <vt:lpstr>10. 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Sushma Guduri</dc:creator>
  <cp:lastModifiedBy>Sushma Guduri</cp:lastModifiedBy>
  <cp:revision>1</cp:revision>
  <dcterms:created xsi:type="dcterms:W3CDTF">2025-05-31T14:58:59Z</dcterms:created>
  <dcterms:modified xsi:type="dcterms:W3CDTF">2025-05-31T15:35:18Z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